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700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7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651000"/>
            <a:ext cx="107696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4572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700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7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651000"/>
            <a:ext cx="107696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Shape 2"/>
          <p:cNvSpPr/>
          <p:nvPr/>
        </p:nvSpPr>
        <p:spPr>
          <a:xfrm>
            <a:off x="609600" y="546100"/>
            <a:ext cx="3962400" cy="5765800"/>
          </a:xfrm>
          <a:prstGeom prst="rect">
            <a:avLst/>
          </a:prstGeom>
          <a:solidFill>
            <a:srgbClr val="E0A93B"/>
          </a:solidFill>
          <a:ln/>
        </p:spPr>
      </p:sp>
      <p:pic>
        <p:nvPicPr>
          <p:cNvPr id="5" name="Image 0" descr="UFC fight poster with two fighters facing off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673100" y="609600"/>
            <a:ext cx="3962400" cy="563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315720"/>
            <a:ext cx="6749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ML MINI PROJECT · 2025–26 · FIGHT NIGHT EDITION</a:t>
            </a:r>
            <a:endParaRPr lang="en-US" sz="1400" dirty="0"/>
          </a:p>
        </p:txBody>
      </p:sp>
      <p:sp>
        <p:nvSpPr>
          <p:cNvPr id="7" name="Text 4"/>
          <p:cNvSpPr/>
          <p:nvPr>
            <p:ph type="title"/>
          </p:nvPr>
        </p:nvSpPr>
        <p:spPr>
          <a:xfrm>
            <a:off x="5029200" y="1742440"/>
            <a:ext cx="6749796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0" i="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PREDICTING UFC FIGHT OUTCOMES WITH MACHINE LEARNING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5029200" y="3749040"/>
            <a:ext cx="825500" cy="1016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9" name="Shape 6"/>
          <p:cNvSpPr/>
          <p:nvPr/>
        </p:nvSpPr>
        <p:spPr>
          <a:xfrm>
            <a:off x="5854700" y="3749040"/>
            <a:ext cx="825500" cy="1016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4028440"/>
            <a:ext cx="67497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event: four algorithms step into the ring. One of them has to call the winner before the bell.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029200" y="4866640"/>
            <a:ext cx="6749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8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 the card: SGD · MLP · Decision Tree · Gradient Boosting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5293360"/>
            <a:ext cx="6749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B8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[Your name / team] · [Department]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Text 2"/>
          <p:cNvSpPr/>
          <p:nvPr/>
        </p:nvSpPr>
        <p:spPr>
          <a:xfrm>
            <a:off x="10235883" y="457200"/>
            <a:ext cx="1346518" cy="375920"/>
          </a:xfrm>
          <a:prstGeom prst="rect">
            <a:avLst/>
          </a:prstGeom>
          <a:solidFill>
            <a:srgbClr val="0B0B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2 / 8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09600" y="457200"/>
            <a:ext cx="11301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0" i="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PICK YOUR CORNER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11301984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Given the tale of the tape for two UFC fighters, call the winner. This is a binary classification problem.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600" y="2004060"/>
            <a:ext cx="5397500" cy="21463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207260"/>
            <a:ext cx="4983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RED CORNER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89000" y="2600960"/>
            <a:ext cx="4983861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7500" dirty="0"/>
          </a:p>
        </p:txBody>
      </p:sp>
      <p:sp>
        <p:nvSpPr>
          <p:cNvPr id="10" name="Text 8"/>
          <p:cNvSpPr/>
          <p:nvPr/>
        </p:nvSpPr>
        <p:spPr>
          <a:xfrm>
            <a:off x="889000" y="3591560"/>
            <a:ext cx="4983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 fighter wins (Class 1)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4900" y="2004060"/>
            <a:ext cx="5397500" cy="21463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300" y="2207260"/>
            <a:ext cx="4983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BLUE CORNER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64300" y="2600960"/>
            <a:ext cx="4983861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</a:t>
            </a:r>
            <a:endParaRPr lang="en-US" sz="7500" dirty="0"/>
          </a:p>
        </p:txBody>
      </p:sp>
      <p:sp>
        <p:nvSpPr>
          <p:cNvPr id="14" name="Text 12"/>
          <p:cNvSpPr/>
          <p:nvPr/>
        </p:nvSpPr>
        <p:spPr>
          <a:xfrm>
            <a:off x="6464300" y="3591560"/>
            <a:ext cx="498386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Blue fighter wins (Class 0)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9600" y="4328160"/>
            <a:ext cx="11301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Fight plan: compare four models fairly, judge them in time order, and put the winner on a web app.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Text 2"/>
          <p:cNvSpPr/>
          <p:nvPr/>
        </p:nvSpPr>
        <p:spPr>
          <a:xfrm>
            <a:off x="10235883" y="457200"/>
            <a:ext cx="1346518" cy="375920"/>
          </a:xfrm>
          <a:prstGeom prst="rect">
            <a:avLst/>
          </a:prstGeom>
          <a:solidFill>
            <a:srgbClr val="E0A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3 / 8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09600" y="457200"/>
            <a:ext cx="11301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0" i="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TALE OF THE TAPE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609600" y="1524000"/>
            <a:ext cx="2628900" cy="1445260"/>
          </a:xfrm>
          <a:prstGeom prst="rect">
            <a:avLst/>
          </a:prstGeom>
          <a:solidFill>
            <a:srgbClr val="F7F7EA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1701800"/>
            <a:ext cx="234149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4,673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87400" y="2362200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fights after cleaning, from 6,012 raw rows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0900" y="1524000"/>
            <a:ext cx="2628900" cy="1445260"/>
          </a:xfrm>
          <a:prstGeom prst="rect">
            <a:avLst/>
          </a:prstGeom>
          <a:solidFill>
            <a:srgbClr val="F7F7EA"/>
          </a:solidFill>
          <a:ln/>
        </p:spPr>
      </p:sp>
      <p:sp>
        <p:nvSpPr>
          <p:cNvPr id="10" name="Text 8"/>
          <p:cNvSpPr/>
          <p:nvPr/>
        </p:nvSpPr>
        <p:spPr>
          <a:xfrm>
            <a:off x="3568700" y="1701800"/>
            <a:ext cx="234149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2010–21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68700" y="2362200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years of real UFC fights, newest from March 2021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524000"/>
            <a:ext cx="2628900" cy="1445260"/>
          </a:xfrm>
          <a:prstGeom prst="rect">
            <a:avLst/>
          </a:prstGeom>
          <a:solidFill>
            <a:srgbClr val="F7F7E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0" y="1701800"/>
            <a:ext cx="234149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26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50000" y="2362200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stats compared between the corners, plus stance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53500" y="1524000"/>
            <a:ext cx="2628900" cy="1445260"/>
          </a:xfrm>
          <a:prstGeom prst="rect">
            <a:avLst/>
          </a:prstGeom>
          <a:solidFill>
            <a:srgbClr val="F7F7EA"/>
          </a:solidFill>
          <a:ln/>
        </p:spPr>
      </p:sp>
      <p:sp>
        <p:nvSpPr>
          <p:cNvPr id="16" name="Text 14"/>
          <p:cNvSpPr/>
          <p:nvPr/>
        </p:nvSpPr>
        <p:spPr>
          <a:xfrm>
            <a:off x="9131300" y="1701800"/>
            <a:ext cx="2341499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 / 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9131300" y="2362200"/>
            <a:ext cx="234149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result: Red wins or Blue wins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600" y="3147061"/>
            <a:ext cx="10972800" cy="1701165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60400" y="3147061"/>
            <a:ext cx="0" cy="1701165"/>
          </a:xfrm>
          <a:prstGeom prst="line">
            <a:avLst/>
          </a:prstGeom>
          <a:noFill/>
          <a:ln w="101600">
            <a:solidFill>
              <a:srgbClr val="FF3D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200" y="3350261"/>
            <a:ext cx="10674096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GAP: RED MINUS BLUE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65200" y="3820161"/>
            <a:ext cx="1067409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stat is the gap between the corners, so it shows who has the edge.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5200" y="4166236"/>
            <a:ext cx="10674096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B8B8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Reach, age, wins, strikes landed, takedown accuracy, submission attempts, KO/TKO wins (diff_Reach_cms, diff_age, diff_wins, diff_avg_SIG_STR_landed, diff_avg_TD_pct, diff_avg_SUB_ATT, diff_win_by_KO/TKO)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32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Text 2"/>
          <p:cNvSpPr/>
          <p:nvPr/>
        </p:nvSpPr>
        <p:spPr>
          <a:xfrm>
            <a:off x="10235644" y="457200"/>
            <a:ext cx="1346756" cy="375920"/>
          </a:xfrm>
          <a:prstGeom prst="rect">
            <a:avLst/>
          </a:prstGeom>
          <a:solidFill>
            <a:srgbClr val="0B0B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4 / 8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09600" y="457200"/>
            <a:ext cx="11301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0" i="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RIGGED CARD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11301984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Before 2010 the dataset lists Red as the winner in 1,229 of 1,244 fights (the other 15 were draws). The models were learning a recording quirk, not fighting.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2319020"/>
            <a:ext cx="3556000" cy="150368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496820"/>
            <a:ext cx="32964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98.8%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787400" y="3182620"/>
            <a:ext cx="329641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Red wins before 2010. Blue wins: zero.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8000" y="2319020"/>
            <a:ext cx="3556000" cy="150368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1" name="Text 9"/>
          <p:cNvSpPr/>
          <p:nvPr/>
        </p:nvSpPr>
        <p:spPr>
          <a:xfrm>
            <a:off x="4495800" y="2496820"/>
            <a:ext cx="32964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NaN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4495800" y="3182620"/>
            <a:ext cx="32964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CV scores for SGD and Gradient Boosting. The first fold was all Red.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26400" y="2319020"/>
            <a:ext cx="3556000" cy="150368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04200" y="2496820"/>
            <a:ext cx="329641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2010+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204200" y="3182620"/>
            <a:ext cx="32964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fix: drop earlier fights. 6,012 raw rows become 4,673 clean.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600" y="4000500"/>
            <a:ext cx="11301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After cleaning, Red wins 58.85% and Blue 41.15%, a believable split.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Text 2"/>
          <p:cNvSpPr/>
          <p:nvPr/>
        </p:nvSpPr>
        <p:spPr>
          <a:xfrm>
            <a:off x="10235883" y="457200"/>
            <a:ext cx="1346518" cy="375920"/>
          </a:xfrm>
          <a:prstGeom prst="rect">
            <a:avLst/>
          </a:prstGeom>
          <a:solidFill>
            <a:srgbClr val="0B0B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5 / 8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09600" y="457200"/>
            <a:ext cx="11301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0" i="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FIGHT PLAN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609600" y="1524000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1701800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7400" y="1965961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WEIGH-IN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87400" y="2296161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Drop draws and pre-2010 fights, set the winner label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0900" y="1524000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1" name="Text 9"/>
          <p:cNvSpPr/>
          <p:nvPr/>
        </p:nvSpPr>
        <p:spPr>
          <a:xfrm>
            <a:off x="3568700" y="1701800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8700" y="1965961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FIGHT CARD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8700" y="2296161"/>
            <a:ext cx="234149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Sort the fights by 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524000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000" y="1701800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0000" y="1965961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TALE OF THE TAPE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0000" y="2296161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Engineer the Red minus Blue gaps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53500" y="1524000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9" name="Text 17"/>
          <p:cNvSpPr/>
          <p:nvPr/>
        </p:nvSpPr>
        <p:spPr>
          <a:xfrm>
            <a:off x="9131300" y="1701800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31300" y="1965961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TRAINING CAMP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31300" y="2296161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Older 80% (3,738) trains, newer 20% (935) is held out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9600" y="3055621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23" name="Text 21"/>
          <p:cNvSpPr/>
          <p:nvPr/>
        </p:nvSpPr>
        <p:spPr>
          <a:xfrm>
            <a:off x="787400" y="3233421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7400" y="3497582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WARM-UP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87400" y="3827782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Impute, scale and one-hot encode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90900" y="3055621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27" name="Text 25"/>
          <p:cNvSpPr/>
          <p:nvPr/>
        </p:nvSpPr>
        <p:spPr>
          <a:xfrm>
            <a:off x="3568700" y="3233421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8700" y="3497582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SPARRING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568700" y="3827782"/>
            <a:ext cx="234149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 4 models with TimeSeriesSplit CV (k=5)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3055621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1" name="Text 29"/>
          <p:cNvSpPr/>
          <p:nvPr/>
        </p:nvSpPr>
        <p:spPr>
          <a:xfrm>
            <a:off x="6350000" y="3233421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0000" y="3497582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FIGHT NIGHT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50000" y="3827782"/>
            <a:ext cx="24511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Evaluate on the held-out fights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953500" y="3055621"/>
            <a:ext cx="2628900" cy="137922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5" name="Text 33"/>
          <p:cNvSpPr/>
          <p:nvPr/>
        </p:nvSpPr>
        <p:spPr>
          <a:xfrm>
            <a:off x="9131300" y="3233421"/>
            <a:ext cx="23414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31300" y="3497582"/>
            <a:ext cx="2341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PRESS CONFERENCE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131300" y="3827782"/>
            <a:ext cx="234149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Predict live in Streamlit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9600" y="4612639"/>
            <a:ext cx="11301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peeking: time-ordered splits keep future fights out of training.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Text 2"/>
          <p:cNvSpPr/>
          <p:nvPr/>
        </p:nvSpPr>
        <p:spPr>
          <a:xfrm>
            <a:off x="10235883" y="457200"/>
            <a:ext cx="1346518" cy="375920"/>
          </a:xfrm>
          <a:prstGeom prst="rect">
            <a:avLst/>
          </a:prstGeom>
          <a:solidFill>
            <a:srgbClr val="E0A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6 / 8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09600" y="457200"/>
            <a:ext cx="11301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0" i="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FIGHT CARD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609600" y="1524000"/>
            <a:ext cx="5410200" cy="156718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68450"/>
            <a:ext cx="5410200" cy="0"/>
          </a:xfrm>
          <a:prstGeom prst="line">
            <a:avLst/>
          </a:prstGeom>
          <a:noFill/>
          <a:ln w="88900">
            <a:solidFill>
              <a:srgbClr val="F7F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762761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BOUT 1 · THE BOXER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026921"/>
            <a:ext cx="515391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SGD CLASSIFIER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12800" y="2458721"/>
            <a:ext cx="515391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Straight lines only. Logistic regression trained by stochastic gradient descent, the linear baseline.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524000"/>
            <a:ext cx="5410200" cy="156718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1568450"/>
            <a:ext cx="5410200" cy="0"/>
          </a:xfrm>
          <a:prstGeom prst="line">
            <a:avLst/>
          </a:prstGeom>
          <a:noFill/>
          <a:ln w="88900">
            <a:solidFill>
              <a:srgbClr val="E0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5400" y="1762761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MAIN EVENT · THE CHAMP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5400" y="2026921"/>
            <a:ext cx="515391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MLP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75400" y="2458721"/>
            <a:ext cx="515391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Hidden layers (64, 32) with ReLU, and early stopping so it doesn't gas out by overfitting. Best score on the test fights.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600" y="3243582"/>
            <a:ext cx="5410200" cy="156718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" y="3288032"/>
            <a:ext cx="5410200" cy="0"/>
          </a:xfrm>
          <a:prstGeom prst="line">
            <a:avLst/>
          </a:prstGeom>
          <a:noFill/>
          <a:ln w="88900">
            <a:solidFill>
              <a:srgbClr val="F7F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800" y="3482339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BOUT 3 · THE TACTICIAN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3746500"/>
            <a:ext cx="515391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DECISION TREE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12800" y="4178300"/>
            <a:ext cx="515391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Sticks to a simple game plan: max depth 6, at least 10 samples per leaf.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3243582"/>
            <a:ext cx="5410200" cy="156718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3288032"/>
            <a:ext cx="5410200" cy="0"/>
          </a:xfrm>
          <a:prstGeom prst="line">
            <a:avLst/>
          </a:prstGeom>
          <a:noFill/>
          <a:ln w="88900">
            <a:solidFill>
              <a:srgbClr val="F7F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5400" y="3482339"/>
            <a:ext cx="51539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BOUT 4 · THE CONTENDER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5400" y="3746500"/>
            <a:ext cx="5153914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F7F7EA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GRADIENT BOOSTING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375400" y="4178300"/>
            <a:ext cx="515391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100 trees, learning rate 0.1, depth 4. Each tree fixes the last one's mistakes.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Text 2"/>
          <p:cNvSpPr/>
          <p:nvPr/>
        </p:nvSpPr>
        <p:spPr>
          <a:xfrm>
            <a:off x="10235883" y="457200"/>
            <a:ext cx="1346518" cy="375920"/>
          </a:xfrm>
          <a:prstGeom prst="rect">
            <a:avLst/>
          </a:prstGeom>
          <a:solidFill>
            <a:srgbClr val="0B0B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0A93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7 / 8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09600" y="457200"/>
            <a:ext cx="11301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0" i="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SCORECARDS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609600" y="1524000"/>
            <a:ext cx="11301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Judged on 935 held-out fights (Apr 2019 to Mar 2021). The baseline is a fighter who always picks Red.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760" y="1978660"/>
          <a:ext cx="10962640" cy="2834640"/>
        </p:xfrm>
        <a:graphic>
          <a:graphicData uri="http://schemas.openxmlformats.org/drawingml/2006/table">
            <a:tbl>
              <a:tblPr/>
              <a:tblGrid>
                <a:gridCol w="2740660"/>
                <a:gridCol w="2740660"/>
                <a:gridCol w="2740660"/>
                <a:gridCol w="274066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0A93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Fighter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5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0A93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Accuracy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5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0A93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F1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5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0A93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CV mean ± std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5C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Always Red (baseline)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59.68%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44.61%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58.27%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AB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SGD Classifier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54.44%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54.86%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55.54% ± 2.69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MLP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62.35%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60.57%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59.94% ± 2.39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D2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Decision Tree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59.14%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59.14%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53.16% ± 2.26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Gradient Boosting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59.89%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58.58%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58.72% ± 2.38</a:t>
                      </a:r>
                      <a:endParaRPr lang="en-US" sz="16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9600" y="4991100"/>
            <a:ext cx="113019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MLP beats the baseline by 2.67 points, Gradient Boosting by only 0.21, and SGD and Decision Tree fall short. With 935 fights, small gaps are close to noise.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3429000"/>
          </a:xfrm>
          <a:prstGeom prst="rect">
            <a:avLst/>
          </a:prstGeom>
          <a:solidFill>
            <a:srgbClr val="FF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0"/>
            <a:ext cx="152400" cy="3429000"/>
          </a:xfrm>
          <a:prstGeom prst="rect">
            <a:avLst/>
          </a:prstGeom>
          <a:solidFill>
            <a:srgbClr val="3D6BFF"/>
          </a:solidFill>
          <a:ln/>
        </p:spPr>
      </p:sp>
      <p:sp>
        <p:nvSpPr>
          <p:cNvPr id="4" name="Text 2"/>
          <p:cNvSpPr/>
          <p:nvPr/>
        </p:nvSpPr>
        <p:spPr>
          <a:xfrm>
            <a:off x="10235883" y="457200"/>
            <a:ext cx="1346518" cy="375920"/>
          </a:xfrm>
          <a:prstGeom prst="rect">
            <a:avLst/>
          </a:prstGeom>
          <a:solidFill>
            <a:srgbClr val="E0A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ROUND 8 / 8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09600" y="457200"/>
            <a:ext cx="11301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0" i="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POST-FIGHT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609600" y="1524000"/>
            <a:ext cx="5410200" cy="2413000"/>
          </a:xfrm>
          <a:prstGeom prst="rect">
            <a:avLst/>
          </a:prstGeom>
          <a:solidFill>
            <a:srgbClr val="1C1C1A"/>
          </a:solidFill>
          <a:ln/>
        </p:spPr>
      </p:sp>
      <p:sp>
        <p:nvSpPr>
          <p:cNvPr id="7" name="Shape 5"/>
          <p:cNvSpPr/>
          <p:nvPr/>
        </p:nvSpPr>
        <p:spPr>
          <a:xfrm>
            <a:off x="660400" y="1524000"/>
            <a:ext cx="0" cy="2413000"/>
          </a:xfrm>
          <a:prstGeom prst="line">
            <a:avLst/>
          </a:prstGeom>
          <a:noFill/>
          <a:ln w="101600">
            <a:solidFill>
              <a:srgbClr val="FF3D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5200" y="1727200"/>
            <a:ext cx="494461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E0A93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LIVE FIGHT PREDICTOR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5200" y="2209800"/>
            <a:ext cx="4944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7F7E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Streamlit app: enter two fighters' stats and the trained models call the winner.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524000"/>
            <a:ext cx="5410200" cy="2413000"/>
          </a:xfrm>
          <a:prstGeom prst="rect">
            <a:avLst/>
          </a:prstGeom>
          <a:solidFill>
            <a:srgbClr val="F7F7EA"/>
          </a:solidFill>
          <a:ln/>
        </p:spPr>
      </p:sp>
      <p:sp>
        <p:nvSpPr>
          <p:cNvPr id="11" name="Shape 9"/>
          <p:cNvSpPr/>
          <p:nvPr/>
        </p:nvSpPr>
        <p:spPr>
          <a:xfrm>
            <a:off x="6223000" y="1524000"/>
            <a:ext cx="0" cy="2413000"/>
          </a:xfrm>
          <a:prstGeom prst="line">
            <a:avLst/>
          </a:prstGeom>
          <a:noFill/>
          <a:ln w="101600">
            <a:solidFill>
              <a:srgbClr val="3D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7800" y="1701800"/>
            <a:ext cx="494461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REMATCH PLAN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5082" y="2159000"/>
            <a:ext cx="4839716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More fight footage: the full 3,000+ fight dataset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 fighters in camp: XGBoost, Random Forest, ensembles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Fine-tune the game plan: GridSearchCV or Optuna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Balance the card: SMOTE or class weighting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0B0B0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Fight-night feed: live data from UFCStats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4114800"/>
            <a:ext cx="3779838" cy="533400"/>
          </a:xfrm>
          <a:prstGeom prst="rect">
            <a:avLst/>
          </a:prstGeom>
          <a:solidFill>
            <a:srgbClr val="E0A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dirty="0">
                <a:solidFill>
                  <a:srgbClr val="0B0B0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THANK YOU. QUESTIONS?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92638" y="4265929"/>
            <a:ext cx="31491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8B8A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Learning project only, not for betting.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dicting UFC Fight Outcomes with Machine Learning">
  <a:themeElements>
    <a:clrScheme name="Predicting UFC Fight Outcomes with Machine Learning">
      <a:dk1>
        <a:srgbClr val="0B0B0B"/>
      </a:dk1>
      <a:lt1>
        <a:srgbClr val="E0A93B"/>
      </a:lt1>
      <a:dk2>
        <a:srgbClr val="201B10"/>
      </a:dk2>
      <a:lt2>
        <a:srgbClr val="AB822F"/>
      </a:lt2>
      <a:accent1>
        <a:srgbClr val="FF3D2E"/>
      </a:accent1>
      <a:accent2>
        <a:srgbClr val="3D6BFF"/>
      </a:accent2>
      <a:accent3>
        <a:srgbClr val="B32619"/>
      </a:accent3>
      <a:accent4>
        <a:srgbClr val="B8B8A8"/>
      </a:accent4>
      <a:accent5>
        <a:srgbClr val="EBE6DA"/>
      </a:accent5>
      <a:accent6>
        <a:srgbClr val="9AA0A6"/>
      </a:accent6>
      <a:hlink>
        <a:srgbClr val="0563C1"/>
      </a:hlink>
      <a:folHlink>
        <a:srgbClr val="954F72"/>
      </a:folHlink>
    </a:clrScheme>
    <a:fontScheme name="Predicting UFC Fight Outcomes with Machine Learning">
      <a:majorFont>
        <a:latin typeface="Ant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chiv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UFC Fight Outcomes with Machine Learning</dc:title>
  <dc:subject/>
  <dc:creator/>
  <cp:lastModifiedBy/>
  <cp:revision>1</cp:revision>
  <dcterms:created xsi:type="dcterms:W3CDTF">2026-10-10T15:22:56Z</dcterms:created>
  <dcterms:modified xsi:type="dcterms:W3CDTF">2026-10-10T15:22:56Z</dcterms:modified>
</cp:coreProperties>
</file>